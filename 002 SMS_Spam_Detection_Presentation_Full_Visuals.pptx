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1645920"/>
            <a:ext cx="10472623" cy="20261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00" b="1" dirty="0">
                <a:solidFill>
                  <a:srgbClr val="60A5FA"/>
                </a:solidFill>
                <a:latin typeface="Inter"/>
              </a:rPr>
              <a:t>FINAL YEAR PROJECT VIVA PRESENTATION</a:t>
            </a:r>
          </a:p>
          <a:p>
            <a:pPr>
              <a:spcAft>
                <a:spcPts val="1600"/>
              </a:spcAft>
            </a:pPr>
            <a:r>
              <a:rPr sz="3600" b="1" dirty="0">
                <a:solidFill>
                  <a:srgbClr val="F8FAFC"/>
                </a:solidFill>
                <a:latin typeface="Inter"/>
              </a:rPr>
              <a:t>SMS Spam Detection via Deep Learning</a:t>
            </a:r>
          </a:p>
          <a:p>
            <a:pPr>
              <a:spcAft>
                <a:spcPts val="2800"/>
              </a:spcAft>
            </a:pPr>
            <a:r>
              <a:rPr sz="2000" dirty="0">
                <a:solidFill>
                  <a:srgbClr val="94A3B8"/>
                </a:solidFill>
                <a:latin typeface="Inter"/>
              </a:rPr>
              <a:t>Parallel Code and Theory Architectural Walkthrough &amp; Empirical Evaluation</a:t>
            </a:r>
          </a:p>
          <a:p>
            <a:r>
              <a:rPr sz="1400" dirty="0">
                <a:solidFill>
                  <a:srgbClr val="64748B"/>
                </a:solidFill>
                <a:latin typeface="Inter"/>
              </a:rPr>
              <a:t>Presenter: </a:t>
            </a:r>
            <a:r>
              <a:rPr lang="en-US" sz="1400" dirty="0">
                <a:solidFill>
                  <a:srgbClr val="64748B"/>
                </a:solidFill>
                <a:latin typeface="Inter"/>
              </a:rPr>
              <a:t>Abhishek , Akshay Pratap Singh , Shashwat Shukla</a:t>
            </a:r>
            <a:r>
              <a:rPr sz="1400" dirty="0">
                <a:solidFill>
                  <a:srgbClr val="64748B"/>
                </a:solidFill>
                <a:latin typeface="Inter"/>
              </a:rPr>
              <a:t> (</a:t>
            </a:r>
            <a:r>
              <a:rPr lang="en-US" sz="1400" dirty="0">
                <a:solidFill>
                  <a:srgbClr val="64748B"/>
                </a:solidFill>
                <a:latin typeface="Inter"/>
              </a:rPr>
              <a:t>72 , 64 , 116</a:t>
            </a:r>
            <a:r>
              <a:rPr sz="1400" dirty="0">
                <a:solidFill>
                  <a:srgbClr val="64748B"/>
                </a:solidFill>
                <a:latin typeface="Inter"/>
              </a:rPr>
              <a:t>) | Supervisor: </a:t>
            </a:r>
            <a:r>
              <a:rPr lang="en-US" sz="1400" dirty="0">
                <a:solidFill>
                  <a:srgbClr val="64748B"/>
                </a:solidFill>
                <a:latin typeface="Inter"/>
              </a:rPr>
              <a:t>Mr. Raghav Sharma</a:t>
            </a:r>
            <a:r>
              <a:rPr sz="1400" dirty="0">
                <a:solidFill>
                  <a:srgbClr val="64748B"/>
                </a:solidFill>
                <a:latin typeface="Inter"/>
              </a:rPr>
              <a:t> | Department of Computer</a:t>
            </a:r>
            <a:r>
              <a:rPr lang="en-US" sz="1400" dirty="0">
                <a:solidFill>
                  <a:srgbClr val="64748B"/>
                </a:solidFill>
                <a:latin typeface="Inter"/>
              </a:rPr>
              <a:t> </a:t>
            </a:r>
            <a:r>
              <a:rPr sz="1400" dirty="0">
                <a:solidFill>
                  <a:srgbClr val="64748B"/>
                </a:solidFill>
                <a:latin typeface="Inter"/>
              </a:rPr>
              <a:t>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Inter"/>
              </a:rPr>
              <a:t>PROBLEM FORMULATION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Inter"/>
              </a:rPr>
              <a:t>Imbalanced Classes Require Precision-First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SMS Spam Detection | Parallel Code &amp; Theory Walkthrough | Slide 2 of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2563EB"/>
                </a:solidFill>
                <a:latin typeface="Inter"/>
              </a:rPr>
              <a:t>Operational Class Asymmetry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Class Imbalance: </a:t>
            </a:r>
            <a:r>
              <a:rPr sz="1500">
                <a:solidFill>
                  <a:srgbClr val="475569"/>
                </a:solidFill>
                <a:latin typeface="Inter"/>
              </a:rPr>
              <a:t>86.59% legitimate ham versus 13.41% malicious spam in corpus.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False Positive Cost: </a:t>
            </a:r>
            <a:r>
              <a:rPr sz="1500">
                <a:solidFill>
                  <a:srgbClr val="475569"/>
                </a:solidFill>
                <a:latin typeface="Inter"/>
              </a:rPr>
              <a:t>Mislabelling legitimate OTPs or emergencies causes catastrophic loss.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False Negative Cost: </a:t>
            </a:r>
            <a:r>
              <a:rPr sz="1500">
                <a:solidFill>
                  <a:srgbClr val="475569"/>
                </a:solidFill>
                <a:latin typeface="Inter"/>
              </a:rPr>
              <a:t>Permits deceptive phishing and fraudulent lottery scams to reach inbox.</a:t>
            </a:r>
          </a:p>
        </p:txBody>
      </p:sp>
      <p:pic>
        <p:nvPicPr>
          <p:cNvPr id="7" name="Picture 6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53504" y="457200"/>
            <a:ext cx="51206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Inter"/>
              </a:rPr>
              <a:t>CORPUS CHARACTERISTICS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Inter"/>
              </a:rPr>
              <a:t>Spam Messages Exhibit Significantly Longer Token Lengths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3504" y="635508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SMS Spam Detection | Parallel Code &amp; Theory Walkthrough | Slide 3 of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3504" y="201168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2563EB"/>
                </a:solidFill>
                <a:latin typeface="Inter"/>
              </a:rPr>
              <a:t>Key Descriptive Findings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Ham Message Length: </a:t>
            </a:r>
            <a:r>
              <a:rPr sz="1500">
                <a:solidFill>
                  <a:srgbClr val="475569"/>
                </a:solidFill>
                <a:latin typeface="Inter"/>
              </a:rPr>
              <a:t>Mean 71.56 characters, median 52 characters (range 2–910 chars).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Spam Message Length: </a:t>
            </a:r>
            <a:r>
              <a:rPr sz="1500">
                <a:solidFill>
                  <a:srgbClr val="475569"/>
                </a:solidFill>
                <a:latin typeface="Inter"/>
              </a:rPr>
              <a:t>Mean 139.12 characters, median 149 characters (tight range 13–224).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Distribution Overlap: </a:t>
            </a:r>
            <a:r>
              <a:rPr sz="1500">
                <a:solidFill>
                  <a:srgbClr val="475569"/>
                </a:solidFill>
                <a:latin typeface="Inter"/>
              </a:rPr>
              <a:t>Length alone cannot separate classes reliably; sequence context is required.</a:t>
            </a:r>
          </a:p>
        </p:txBody>
      </p:sp>
      <p:pic>
        <p:nvPicPr>
          <p:cNvPr id="7" name="Picture 6" descr="message_leng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539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Inter"/>
              </a:rPr>
              <a:t>SYSTEM DESIGN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Inter"/>
              </a:rPr>
              <a:t>Dual Pipeline Architecture: Deep Learning vs Linear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SMS Spam Detection | Parallel Code &amp; Theory Walkthrough | Slide 4 of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2563EB"/>
                </a:solidFill>
                <a:latin typeface="Inter"/>
              </a:rPr>
              <a:t>Pipeline Stages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Data Processing: </a:t>
            </a:r>
            <a:r>
              <a:rPr sz="1500">
                <a:solidFill>
                  <a:srgbClr val="475569"/>
                </a:solidFill>
                <a:latin typeface="Inter"/>
              </a:rPr>
              <a:t>5,572 rows loaded; labels validated; stratified 1,032 test holdout.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BiLSTM Branch: </a:t>
            </a:r>
            <a:r>
              <a:rPr sz="1500">
                <a:solidFill>
                  <a:srgbClr val="475569"/>
                </a:solidFill>
                <a:latin typeface="Inter"/>
              </a:rPr>
              <a:t>TextVectorization + 64-dim embedding + 32-unit bidirectional recurrent core.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Baseline Branch: </a:t>
            </a:r>
            <a:r>
              <a:rPr sz="1500">
                <a:solidFill>
                  <a:srgbClr val="475569"/>
                </a:solidFill>
                <a:latin typeface="Inter"/>
              </a:rPr>
              <a:t>Sublinear TF-IDF (1-2 ngrams) + balanced L2 Logistic Regression.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Inter"/>
              </a:rPr>
              <a:t>STAGE 1: INGESTION &amp; SPLITTING</a:t>
            </a:r>
          </a:p>
          <a:p>
            <a:pPr algn="l"/>
            <a:r>
              <a:rPr sz="3000" b="1">
                <a:solidFill>
                  <a:srgbClr val="0F172A"/>
                </a:solidFill>
                <a:latin typeface="Inter"/>
              </a:rPr>
              <a:t>Stratified Partitioning Eliminates Class Distribution Skew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SMS Spam Detection | Parallel Code &amp; Theory Walkthrough | Slide 5 of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2563EB"/>
                </a:solidFill>
                <a:latin typeface="Inter"/>
              </a:rPr>
              <a:t>Theoretical Principles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Corpus Integrity: </a:t>
            </a:r>
            <a:r>
              <a:rPr sz="1500">
                <a:solidFill>
                  <a:srgbClr val="475569"/>
                </a:solidFill>
                <a:latin typeface="Inter"/>
              </a:rPr>
              <a:t>Validation confirms 0 corrupt labels across 5,572 raw observations.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Stratified Sampling: </a:t>
            </a:r>
            <a:r>
              <a:rPr sz="1500">
                <a:solidFill>
                  <a:srgbClr val="475569"/>
                </a:solidFill>
                <a:latin typeface="Inter"/>
              </a:rPr>
              <a:t>Maintains exact 86.6% to 13.4% ratio across both train and test partitions.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Leakage Isolation: </a:t>
            </a:r>
            <a:r>
              <a:rPr sz="1500">
                <a:solidFill>
                  <a:srgbClr val="475569"/>
                </a:solidFill>
                <a:latin typeface="Inter"/>
              </a:rPr>
              <a:t>Strict split prevents test vocabulary from contaminating training states.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59" y="201168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284C7"/>
                </a:solidFill>
                <a:latin typeface="Inter"/>
              </a:rPr>
              <a:t>Python Implementation</a:t>
            </a:r>
          </a:p>
          <a:p>
            <a:r>
              <a:rPr sz="1400">
                <a:solidFill>
                  <a:srgbClr val="0F172A"/>
                </a:solidFill>
                <a:latin typeface="Liberation Mono"/>
              </a:rPr>
              <a:t>df = pd.read_csv('data/SMSSpamCollection',
                 sep='\t', header=None,
                 names=['label', 'message'])
df['target'] = (df['label'] == 'spam').astype('int32')
X_train, X_test, y_train, y_test = train_test_split(
    df['message'], df['target'],
    test_size=0.185, random_state=42,
    stratify=df['target']
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Inter"/>
              </a:rPr>
              <a:t>STAGE 2: TOKENIZATION &amp; EMBEDDING</a:t>
            </a:r>
          </a:p>
          <a:p>
            <a:pPr algn="l"/>
            <a:r>
              <a:rPr sz="3000" b="1">
                <a:solidFill>
                  <a:srgbClr val="0F172A"/>
                </a:solidFill>
                <a:latin typeface="Inter"/>
              </a:rPr>
              <a:t>Integer Tokenization Maps SMS Strings to Dense Semantic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SMS Spam Detection | Parallel Code &amp; Theory Walkthrough | Slide 6 of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2563EB"/>
                </a:solidFill>
                <a:latin typeface="Inter"/>
              </a:rPr>
              <a:t>Theoretical Principles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Vocabulary Bounding: </a:t>
            </a:r>
            <a:r>
              <a:rPr sz="1500">
                <a:solidFill>
                  <a:srgbClr val="475569"/>
                </a:solidFill>
                <a:latin typeface="Inter"/>
              </a:rPr>
              <a:t>Max 10,000 tokens preserves key words while discarding rare noise.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Fixed Sequence Window: </a:t>
            </a:r>
            <a:r>
              <a:rPr sz="1500">
                <a:solidFill>
                  <a:srgbClr val="475569"/>
                </a:solidFill>
                <a:latin typeface="Inter"/>
              </a:rPr>
              <a:t>100-token length accommodates 99.8% of SMS corpus without clipping.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Dense Word Embeddings: </a:t>
            </a:r>
            <a:r>
              <a:rPr sz="1500">
                <a:solidFill>
                  <a:srgbClr val="475569"/>
                </a:solidFill>
                <a:latin typeface="Inter"/>
              </a:rPr>
              <a:t>64-dimensional vectors represent semantic proximity geometrically.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59" y="201168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284C7"/>
                </a:solidFill>
                <a:latin typeface="Inter"/>
              </a:rPr>
              <a:t>Python Implementation</a:t>
            </a:r>
          </a:p>
          <a:p>
            <a:r>
              <a:rPr sz="1400">
                <a:solidFill>
                  <a:srgbClr val="0F172A"/>
                </a:solidFill>
                <a:latin typeface="Liberation Mono"/>
              </a:rPr>
              <a:t>MAX_TOKENS = 10_000
SEQUENCE_LENGTH = 100
vectorizer = layers.TextVectorization(
    max_tokens=MAX_TOKENS,
    output_mode='int',
    output_sequence_length=SEQUENCE_LENGTH
)
vectorizer.adapt(X_train.to_numpy())
# Sequential Embedding Layer:
layers.Embedding(MAX_TOKENS, 64)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Inter"/>
              </a:rPr>
              <a:t>STAGE 3: DEEP LEARNING ARCHITECTURE</a:t>
            </a:r>
          </a:p>
          <a:p>
            <a:pPr algn="l"/>
            <a:r>
              <a:rPr sz="3000" b="1">
                <a:solidFill>
                  <a:srgbClr val="0F172A"/>
                </a:solidFill>
                <a:latin typeface="Inter"/>
              </a:rPr>
              <a:t>Bidirectional Memory Recurrence Captures Dual-Direction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SMS Spam Detection | Parallel Code &amp; Theory Walkthrough | Slide 7 of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2563EB"/>
                </a:solidFill>
                <a:latin typeface="Inter"/>
              </a:rPr>
              <a:t>Theoretical Principles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Bidirectional Traversal: </a:t>
            </a:r>
            <a:r>
              <a:rPr sz="1500">
                <a:solidFill>
                  <a:srgbClr val="475569"/>
                </a:solidFill>
                <a:latin typeface="Inter"/>
              </a:rPr>
              <a:t>Forward and backward states resolve ambiguities from word order.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Gated Memory Units: </a:t>
            </a:r>
            <a:r>
              <a:rPr sz="1500">
                <a:solidFill>
                  <a:srgbClr val="475569"/>
                </a:solidFill>
                <a:latin typeface="Inter"/>
              </a:rPr>
              <a:t>Forget, input, and output gates eliminate vanishing gradient failures.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Dropout Regularization: </a:t>
            </a:r>
            <a:r>
              <a:rPr sz="1500">
                <a:solidFill>
                  <a:srgbClr val="475569"/>
                </a:solidFill>
                <a:latin typeface="Inter"/>
              </a:rPr>
              <a:t>0.3 dropout prevents co-adaptation of recurrent hidden weights.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59" y="201168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284C7"/>
                </a:solidFill>
                <a:latin typeface="Inter"/>
              </a:rPr>
              <a:t>Python Implementation</a:t>
            </a:r>
          </a:p>
          <a:p>
            <a:r>
              <a:rPr sz="1400">
                <a:solidFill>
                  <a:srgbClr val="0F172A"/>
                </a:solidFill>
                <a:latin typeface="Liberation Mono"/>
              </a:rPr>
              <a:t>model = tf.keras.Sequential([
    layers.Input(shape=(), dtype=tf.string),
    vectorizer,
    layers.Embedding(MAX_TOKENS, 64),
    layers.Bidirectional(layers.LSTM(32)),
    layers.Dropout(0.3),
    layers.Dense(32, activation='relu'),
    layers.Dense(1, activation='sigmoid')
])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Inter"/>
              </a:rPr>
              <a:t>STAGE 4: OPTIMIZATION &amp; FIT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Inter"/>
              </a:rPr>
              <a:t>Binary Cross-Entropy Loss Guides Adaptive Gradient Updates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SMS Spam Detection | Parallel Code &amp; Theory Walkthrough | Slide 8 of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2563EB"/>
                </a:solidFill>
                <a:latin typeface="Inter"/>
              </a:rPr>
              <a:t>Optimization &amp; Code Walkthrough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Log-Loss Penalization: </a:t>
            </a:r>
            <a:r>
              <a:rPr sz="1400">
                <a:solidFill>
                  <a:srgbClr val="475569"/>
                </a:solidFill>
                <a:latin typeface="Inter"/>
              </a:rPr>
              <a:t>Binary cross-entropy severely penalizes confident incorrect tags.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Adam Optimizer: </a:t>
            </a:r>
            <a:r>
              <a:rPr sz="1400">
                <a:solidFill>
                  <a:srgbClr val="475569"/>
                </a:solidFill>
                <a:latin typeface="Inter"/>
              </a:rPr>
              <a:t>Adaptive moments prevent oscillations during recurrent backpropagation.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fit() Execution: </a:t>
            </a:r>
            <a:r>
              <a:rPr sz="1400">
                <a:solidFill>
                  <a:srgbClr val="475569"/>
                </a:solidFill>
                <a:latin typeface="Inter"/>
              </a:rPr>
              <a:t>model.fit(X_train, y_train, validation_split=0.1, epochs=10, batch_size=32).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Artifact Saving: </a:t>
            </a:r>
            <a:r>
              <a:rPr sz="1400">
                <a:solidFill>
                  <a:srgbClr val="475569"/>
                </a:solidFill>
                <a:latin typeface="Inter"/>
              </a:rPr>
              <a:t>model.save('models/sms_spam_bilstm.keras') stores graph and weights.</a:t>
            </a:r>
          </a:p>
        </p:txBody>
      </p:sp>
      <p:pic>
        <p:nvPicPr>
          <p:cNvPr id="7" name="Picture 6" descr="training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Inter"/>
              </a:rPr>
              <a:t>STAGE 5: LINEAR BENCHMARK</a:t>
            </a:r>
          </a:p>
          <a:p>
            <a:pPr algn="l"/>
            <a:r>
              <a:rPr sz="3000" b="1">
                <a:solidFill>
                  <a:srgbClr val="0F172A"/>
                </a:solidFill>
                <a:latin typeface="Inter"/>
              </a:rPr>
              <a:t>Sublinear TF-IDF and Class Weighting Form a Strong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SMS Spam Detection | Parallel Code &amp; Theory Walkthrough | Slide 9 of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2563EB"/>
                </a:solidFill>
                <a:latin typeface="Inter"/>
              </a:rPr>
              <a:t>Theoretical Principles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N-Gram Collocations: </a:t>
            </a:r>
            <a:r>
              <a:rPr sz="1500">
                <a:solidFill>
                  <a:srgbClr val="475569"/>
                </a:solidFill>
                <a:latin typeface="Inter"/>
              </a:rPr>
              <a:t>Unigrams + bigrams capture key phrases like 'win cash' or 'claim now'.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Sublinear TF Scaling: </a:t>
            </a:r>
            <a:r>
              <a:rPr sz="1500">
                <a:solidFill>
                  <a:srgbClr val="475569"/>
                </a:solidFill>
                <a:latin typeface="Inter"/>
              </a:rPr>
              <a:t>Replaces raw frequency with 1 + log(tf) to dampen repetitive words.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Balanced Class Weighting: </a:t>
            </a:r>
            <a:r>
              <a:rPr sz="1500">
                <a:solidFill>
                  <a:srgbClr val="475569"/>
                </a:solidFill>
                <a:latin typeface="Inter"/>
              </a:rPr>
              <a:t>Inversely weights loss per class to counteract 86.6% ham dominance.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59" y="201168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284C7"/>
                </a:solidFill>
                <a:latin typeface="Inter"/>
              </a:rPr>
              <a:t>Python Implementation</a:t>
            </a:r>
          </a:p>
          <a:p>
            <a:r>
              <a:rPr sz="1400">
                <a:solidFill>
                  <a:srgbClr val="0F172A"/>
                </a:solidFill>
                <a:latin typeface="Liberation Mono"/>
              </a:rPr>
              <a:t>baseline = Pipeline([
    ('tfidf', TfidfVectorizer(
        lowercase=True, ngram_range=(1, 2),
        max_features=20_000, sublinear_tf=True
    )),
    ('classifier', LogisticRegression(
        max_iter=2000, class_weight='balanced'
    ))
])
baseline.fit(X_train, y_train)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Inter"/>
              </a:rPr>
              <a:t>EXPERIMENTAL RESULTS</a:t>
            </a:r>
          </a:p>
          <a:p>
            <a:pPr algn="l"/>
            <a:r>
              <a:rPr sz="3000" b="1">
                <a:solidFill>
                  <a:srgbClr val="0F172A"/>
                </a:solidFill>
                <a:latin typeface="Inter"/>
              </a:rPr>
              <a:t>BiLSTM Achieves 98.06% Accuracy and Superior 92.31% F1-Score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SMS Spam Detection | Parallel Code &amp; Theory Walkthrough | Slide 10 of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>
                <a:solidFill>
                  <a:srgbClr val="475569"/>
                </a:solidFill>
                <a:latin typeface="Inter"/>
              </a:rPr>
              <a:t>BiLSTM (Left: 892 TN, 12 FP) vs TF-IDF Baseline (Right: 891 TN, 13 FP) on 1,032 Test Samples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011680"/>
            <a:ext cx="41148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2563EB"/>
                </a:solidFill>
                <a:latin typeface="Inter"/>
              </a:rPr>
              <a:t>Benchmark Scorecard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Accuracy: </a:t>
            </a:r>
            <a:r>
              <a:rPr sz="1400">
                <a:solidFill>
                  <a:srgbClr val="475569"/>
                </a:solidFill>
                <a:latin typeface="Inter"/>
              </a:rPr>
              <a:t>BiLSTM 98.06% vs Baseline 97.97% (+0.09% gain).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Spam Precision: </a:t>
            </a:r>
            <a:r>
              <a:rPr sz="1400">
                <a:solidFill>
                  <a:srgbClr val="475569"/>
                </a:solidFill>
                <a:latin typeface="Inter"/>
              </a:rPr>
              <a:t>BiLSTM 90.91% vs Baseline 90.23% (1 fewer false alarm).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Spam Recall: </a:t>
            </a:r>
            <a:r>
              <a:rPr sz="1400">
                <a:solidFill>
                  <a:srgbClr val="475569"/>
                </a:solidFill>
                <a:latin typeface="Inter"/>
              </a:rPr>
              <a:t>Identical 93.75% (both catch 120 / 128 spam messages).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Spam F1-Score: </a:t>
            </a:r>
            <a:r>
              <a:rPr sz="1400">
                <a:solidFill>
                  <a:srgbClr val="475569"/>
                </a:solidFill>
                <a:latin typeface="Inter"/>
              </a:rPr>
              <a:t>BiLSTM 92.31% vs Baseline 91.95% (+0.36% advantage).</a:t>
            </a:r>
          </a:p>
        </p:txBody>
      </p:sp>
      <p:pic>
        <p:nvPicPr>
          <p:cNvPr id="9" name="Picture 8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6309359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Inter"/>
              </a:rPr>
              <a:t>STAGE 6: WEB APPLICATION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Inter"/>
              </a:rPr>
              <a:t>Cached Artifact Loading Enables Instant Browser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SMS Spam Detection | Parallel Code &amp; Theory Walkthrough | Slide 11 of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2563EB"/>
                </a:solidFill>
                <a:latin typeface="Inter"/>
              </a:rPr>
              <a:t>Inference Architecture &amp; Code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@st.cache_resource: </a:t>
            </a:r>
            <a:r>
              <a:rPr sz="1400">
                <a:solidFill>
                  <a:srgbClr val="475569"/>
                </a:solidFill>
                <a:latin typeface="Inter"/>
              </a:rPr>
              <a:t>Loads serialized model once into memory, preventing reload lag.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End-to-End Pipeline: </a:t>
            </a:r>
            <a:r>
              <a:rPr sz="1400">
                <a:solidFill>
                  <a:srgbClr val="475569"/>
                </a:solidFill>
                <a:latin typeface="Inter"/>
              </a:rPr>
              <a:t>model.predict(tf.constant([msg])) executes vectorizer and neural graph.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Sigmoid Discretization: </a:t>
            </a:r>
            <a:r>
              <a:rPr sz="1400">
                <a:solidFill>
                  <a:srgbClr val="475569"/>
                </a:solidFill>
                <a:latin typeface="Inter"/>
              </a:rPr>
              <a:t>score &gt;= 0.5 boundary classifies message as SPAM or NORMAL.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Sub-15ms Latency: </a:t>
            </a:r>
            <a:r>
              <a:rPr sz="1400">
                <a:solidFill>
                  <a:srgbClr val="475569"/>
                </a:solidFill>
                <a:latin typeface="Inter"/>
              </a:rPr>
              <a:t>Pure CPU tensor execution yields instantaneous user feedback.</a:t>
            </a:r>
          </a:p>
        </p:txBody>
      </p:sp>
      <p:pic>
        <p:nvPicPr>
          <p:cNvPr id="7" name="Picture 6" descr="web_in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Inter"/>
              </a:rPr>
              <a:t>VIVA VOCE READINESS</a:t>
            </a:r>
          </a:p>
          <a:p>
            <a:pPr algn="l"/>
            <a:r>
              <a:rPr sz="3000" b="1">
                <a:solidFill>
                  <a:srgbClr val="0F172A"/>
                </a:solidFill>
                <a:latin typeface="Inter"/>
              </a:rPr>
              <a:t>Key Technical Viva Questions and Architectural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SMS Spam Detection | Parallel Code &amp; Theory Walkthrough | Slide 12 of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40233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9260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2563EB"/>
                </a:solidFill>
                <a:latin typeface="Inter"/>
              </a:rPr>
              <a:t>Why BiLSTM vs RNN?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Vanishing Gradients: </a:t>
            </a:r>
            <a:r>
              <a:rPr sz="1400">
                <a:solidFill>
                  <a:srgbClr val="475569"/>
                </a:solidFill>
                <a:latin typeface="Inter"/>
              </a:rPr>
              <a:t>Standard RNN gates collapse over sequences &gt;15 tokens.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Bidirectional Context: </a:t>
            </a:r>
            <a:r>
              <a:rPr sz="1400">
                <a:solidFill>
                  <a:srgbClr val="475569"/>
                </a:solidFill>
                <a:latin typeface="Inter"/>
              </a:rPr>
              <a:t>Future tokens resolve early ambiguous words like 'free' or 'account'.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Parameter Economy: </a:t>
            </a:r>
            <a:r>
              <a:rPr sz="1400">
                <a:solidFill>
                  <a:srgbClr val="475569"/>
                </a:solidFill>
                <a:latin typeface="Inter"/>
              </a:rPr>
              <a:t>32 recurrent units achieve high accuracy without overparameterization.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2011680"/>
            <a:ext cx="3291840" cy="40233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2194560"/>
            <a:ext cx="29260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2563EB"/>
                </a:solidFill>
                <a:latin typeface="Inter"/>
              </a:rPr>
              <a:t>Data Leakage Risks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Vocabulary Fitting: </a:t>
            </a:r>
            <a:r>
              <a:rPr sz="1400">
                <a:solidFill>
                  <a:srgbClr val="475569"/>
                </a:solidFill>
                <a:latin typeface="Inter"/>
              </a:rPr>
              <a:t>Vectorizer adapted ONLY on X_train to preserve holdout blindness.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Duplicate Handling: </a:t>
            </a:r>
            <a:r>
              <a:rPr sz="1400">
                <a:solidFill>
                  <a:srgbClr val="475569"/>
                </a:solidFill>
                <a:latin typeface="Inter"/>
              </a:rPr>
              <a:t>403 duplicate rows identified in EDA must not cross partition lines.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Corpus Stratification: </a:t>
            </a:r>
            <a:r>
              <a:rPr sz="1400">
                <a:solidFill>
                  <a:srgbClr val="475569"/>
                </a:solidFill>
                <a:latin typeface="Inter"/>
              </a:rPr>
              <a:t>Stratified splitting ensures representative test evaluation.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011680"/>
            <a:ext cx="3291840" cy="40233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0" y="2194560"/>
            <a:ext cx="29260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2563EB"/>
                </a:solidFill>
                <a:latin typeface="Inter"/>
              </a:rPr>
              <a:t>Production Reality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Marginal DL Advantage: </a:t>
            </a:r>
            <a:r>
              <a:rPr sz="1400">
                <a:solidFill>
                  <a:srgbClr val="475569"/>
                </a:solidFill>
                <a:latin typeface="Inter"/>
              </a:rPr>
              <a:t>BiLSTM yields 92.31% F1 vs 91.95% linear ML (modest gain).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Latency vs Compute: </a:t>
            </a:r>
            <a:r>
              <a:rPr sz="1400">
                <a:solidFill>
                  <a:srgbClr val="475569"/>
                </a:solidFill>
                <a:latin typeface="Inter"/>
              </a:rPr>
              <a:t>Logistic Regression is 10x faster; DL captures nuanced syntax.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Concept Drift: </a:t>
            </a:r>
            <a:r>
              <a:rPr sz="1400">
                <a:solidFill>
                  <a:srgbClr val="475569"/>
                </a:solidFill>
                <a:latin typeface="Inter"/>
              </a:rPr>
              <a:t>Modern spam evolves adversarial obfuscations requiring retraining.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32505" y="2569464"/>
            <a:ext cx="3730752" cy="15388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400"/>
              </a:spcAft>
            </a:pPr>
            <a:r>
              <a:rPr sz="6600" dirty="0">
                <a:solidFill>
                  <a:srgbClr val="93C5FD"/>
                </a:solidFill>
                <a:latin typeface="Inter"/>
              </a:rPr>
              <a:t>Thank You. </a:t>
            </a:r>
            <a:endParaRPr lang="en-US" sz="6600" dirty="0">
              <a:solidFill>
                <a:srgbClr val="93C5FD"/>
              </a:solidFill>
              <a:latin typeface="Inter"/>
            </a:endParaRPr>
          </a:p>
          <a:p>
            <a:pPr>
              <a:spcAft>
                <a:spcPts val="2400"/>
              </a:spcAft>
            </a:pPr>
            <a:endParaRPr sz="1400" dirty="0">
              <a:solidFill>
                <a:srgbClr val="64748B"/>
              </a:solidFill>
              <a:latin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1388</Words>
  <Application>Microsoft Office PowerPoint</Application>
  <PresentationFormat>Widescreen</PresentationFormat>
  <Paragraphs>102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Inter</vt:lpstr>
      <vt:lpstr>Liberation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Abhishek Vishwakarma</dc:creator>
  <cp:keywords/>
  <dc:description>generated using python-pptx</dc:description>
  <cp:lastModifiedBy>Abhishek Vishwakarma</cp:lastModifiedBy>
  <cp:revision>2</cp:revision>
  <dcterms:created xsi:type="dcterms:W3CDTF">2013-01-27T09:14:16Z</dcterms:created>
  <dcterms:modified xsi:type="dcterms:W3CDTF">2026-10-27T08:23:07Z</dcterms:modified>
  <cp:category/>
</cp:coreProperties>
</file>